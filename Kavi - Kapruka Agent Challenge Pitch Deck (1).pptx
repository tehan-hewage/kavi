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pitch. This is a live, working agent on the real Kapruka MCP.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in one breath, then pivot to 'here's what we built.'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pillars: memory and language. Both are real, working MCP-backed features — say so plainly.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actual carousel/cart/timeline on screen once you're live — these three ship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under a minute — the diagram tells the story, don't read every box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organizer's own stated numbers (from the challenge FAQ), not a claimed measured result — say 'target', not 'achieved'. If asked for a live conversion metric, be honest that there's no user base yet to 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screen share now. Use the real test account. Narrate what Kavi is doing as each tool call fires. Aim for 8-9 minutes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during Q&amp;A. Keep the live app open in another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645920"/>
            <a:ext cx="5943600" cy="5943600"/>
          </a:xfrm>
          <a:prstGeom prst="ellipse">
            <a:avLst/>
          </a:prstGeom>
          <a:solidFill>
            <a:srgbClr val="6B2D96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FFC7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KAPRUKA AGENT CHALLENGE  · 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88720" cy="1188720"/>
          </a:xfrm>
          <a:prstGeom prst="ellipse">
            <a:avLst/>
          </a:prstGeom>
          <a:solidFill>
            <a:srgbClr val="FFC7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3380" dirty="0"/>
          </a:p>
        </p:txBody>
      </p:sp>
      <p:sp>
        <p:nvSpPr>
          <p:cNvPr id="7" name="Text 5"/>
          <p:cNvSpPr/>
          <p:nvPr/>
        </p:nvSpPr>
        <p:spPr>
          <a:xfrm>
            <a:off x="1965960" y="1417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Kavi </a:t>
            </a:r>
            <a:pPr indent="0" marL="0">
              <a:buNone/>
            </a:pPr>
            <a:r>
              <a:rPr lang="en-US" sz="4000" b="1" dirty="0">
                <a:solidFill>
                  <a:srgbClr val="D9C9EF"/>
                </a:solidFill>
                <a:latin typeface="Noto Sans Sinhala" pitchFamily="34" charset="0"/>
                <a:ea typeface="Noto Sans Sinhala" pitchFamily="34" charset="-122"/>
                <a:cs typeface="Noto Sans Sinhala" pitchFamily="34" charset="-120"/>
              </a:rPr>
              <a:t>(කවි)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965960" y="2560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Intelligent Conversational Shopping Assistant for Kapruka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965960" y="30632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product discovery to a paid Kapruka order in under 2 minutes.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Tehan Hewage  ·  Applicant #7GUX3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Sri Lankan e-commerce has a friction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05356"/>
            <a:ext cx="566928" cy="566928"/>
          </a:xfrm>
          <a:prstGeom prst="ellipse">
            <a:avLst/>
          </a:prstGeom>
          <a:solidFill>
            <a:srgbClr val="4C1D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033" y="1835749"/>
            <a:ext cx="306141" cy="3061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0876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drop-off and friction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325880" y="18745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forms, endless scrolling through a huge catalog, and multi-step checkout drive cart abandonment.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830068"/>
            <a:ext cx="566928" cy="566928"/>
          </a:xfrm>
          <a:prstGeom prst="ellipse">
            <a:avLst/>
          </a:prstGeom>
          <a:solidFill>
            <a:srgbClr val="4C1D6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33" y="2960461"/>
            <a:ext cx="306141" cy="3061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63347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Impersonal, forgetful bots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325880" y="299923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chatbots repeat the same script and forget who you are the moment you refresh.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954780"/>
            <a:ext cx="566928" cy="566928"/>
          </a:xfrm>
          <a:prstGeom prst="ellipse">
            <a:avLst/>
          </a:prstGeom>
          <a:solidFill>
            <a:srgbClr val="4C1D6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33" y="4085173"/>
            <a:ext cx="306141" cy="30614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758184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diaspora shopping blind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325880" y="412394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Lankans abroad want to send gifts home but face an unfamiliar catalog and uncertain delivery timing.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928616"/>
            <a:ext cx="10725912" cy="658368"/>
          </a:xfrm>
          <a:prstGeom prst="roundRect">
            <a:avLst>
              <a:gd name="adj" fmla="val 13889"/>
            </a:avLst>
          </a:prstGeom>
          <a:solidFill>
            <a:srgbClr val="F3EEFA"/>
          </a:solidFill>
          <a:ln/>
        </p:spPr>
      </p:sp>
      <p:sp>
        <p:nvSpPr>
          <p:cNvPr id="17" name="Text 12"/>
          <p:cNvSpPr/>
          <p:nvPr/>
        </p:nvSpPr>
        <p:spPr>
          <a:xfrm>
            <a:off x="822960" y="4928616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Kavi's answer:  </a:t>
            </a:r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shopping companion with real memory, trilingual warmth, and a visual, in-chat experience.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SUPERPOWERS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real Sri Lankan shoppers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4C1D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033" y="1822033"/>
            <a:ext cx="306141" cy="3061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74650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Deep Memory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237744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recognition — greets returning customers by name via kapruka_customer_details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1-tap saved address — pulls the address book via kapruka_customer_addresses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reorder nudges — surfaces past consumable buys via kapruka_order_history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08192" y="1691640"/>
            <a:ext cx="566928" cy="566928"/>
          </a:xfrm>
          <a:prstGeom prst="ellipse">
            <a:avLst/>
          </a:prstGeom>
          <a:solidFill>
            <a:srgbClr val="4C1D6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585" y="1822033"/>
            <a:ext cx="306141" cy="3061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39712" y="174650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Your Language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108192" y="237744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5C5C5C"/>
                </a:solidFill>
                <a:latin typeface="Noto Sans Sinhala" pitchFamily="34" charset="0"/>
                <a:ea typeface="Noto Sans Sinhala" pitchFamily="34" charset="-122"/>
                <a:cs typeface="Noto Sans Sinhala" pitchFamily="34" charset="-120"/>
              </a:rPr>
              <a:t>Full Unicode Sinhala (සිංහල) with warm, natural phrasing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Lankan English and Tanglish, code-switched naturally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in, voice out — Kavi listens and replies aloud, with a live waveform while she listens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COMMERCE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wall of text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85800" cy="685800"/>
          </a:xfrm>
          <a:prstGeom prst="ellipse">
            <a:avLst/>
          </a:prstGeom>
          <a:solidFill>
            <a:srgbClr val="4C1D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374" y="1895094"/>
            <a:ext cx="370332" cy="3703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830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product carousels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508760" y="22402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results render as scrollable cards with real photos, ratings, and prices — not a bullet list.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364992"/>
            <a:ext cx="685800" cy="685800"/>
          </a:xfrm>
          <a:prstGeom prst="ellipse">
            <a:avLst/>
          </a:prstGeom>
          <a:solidFill>
            <a:srgbClr val="4C1D6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74" y="3522726"/>
            <a:ext cx="370332" cy="3703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41071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cart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1508760" y="386791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items from anywhere in the conversation; a slide-in cart keeps a running, multi-item total in view.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4992624"/>
            <a:ext cx="685800" cy="685800"/>
          </a:xfrm>
          <a:prstGeom prst="ellipse">
            <a:avLst/>
          </a:prstGeom>
          <a:solidFill>
            <a:srgbClr val="4C1D6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74" y="5150358"/>
            <a:ext cx="370332" cy="3703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503834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 tracking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508760" y="549554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 order's journey — placed, confirmed, out for delivery — right inside the chat.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clean path from message to 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F3EEFA"/>
          </a:solidFill>
          <a:ln/>
        </p:spPr>
      </p:sp>
      <p:sp>
        <p:nvSpPr>
          <p:cNvPr id="5" name="Shape 3"/>
          <p:cNvSpPr/>
          <p:nvPr/>
        </p:nvSpPr>
        <p:spPr>
          <a:xfrm>
            <a:off x="1211580" y="2304288"/>
            <a:ext cx="548640" cy="548640"/>
          </a:xfrm>
          <a:prstGeom prst="ellipse">
            <a:avLst/>
          </a:prstGeom>
          <a:solidFill>
            <a:srgbClr val="4C1D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7767" y="2430475"/>
            <a:ext cx="296266" cy="2962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999232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423160" y="2555748"/>
            <a:ext cx="219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2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642616" y="210312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F3EEFA"/>
          </a:solidFill>
          <a:ln/>
        </p:spPr>
      </p:sp>
      <p:sp>
        <p:nvSpPr>
          <p:cNvPr id="10" name="Shape 7"/>
          <p:cNvSpPr/>
          <p:nvPr/>
        </p:nvSpPr>
        <p:spPr>
          <a:xfrm>
            <a:off x="3305556" y="2304288"/>
            <a:ext cx="548640" cy="548640"/>
          </a:xfrm>
          <a:prstGeom prst="ellipse">
            <a:avLst/>
          </a:prstGeom>
          <a:solidFill>
            <a:srgbClr val="4C1D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743" y="2430475"/>
            <a:ext cx="296266" cy="2962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15768" y="2999232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17136" y="2555748"/>
            <a:ext cx="219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2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4736592" y="210312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F3EEFA"/>
          </a:solidFill>
          <a:ln/>
        </p:spPr>
      </p:sp>
      <p:sp>
        <p:nvSpPr>
          <p:cNvPr id="15" name="Shape 11"/>
          <p:cNvSpPr/>
          <p:nvPr/>
        </p:nvSpPr>
        <p:spPr>
          <a:xfrm>
            <a:off x="5399532" y="2304288"/>
            <a:ext cx="548640" cy="548640"/>
          </a:xfrm>
          <a:prstGeom prst="ellipse">
            <a:avLst/>
          </a:prstGeom>
          <a:solidFill>
            <a:srgbClr val="4C1D6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719" y="2430475"/>
            <a:ext cx="296266" cy="2962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09744" y="2999232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611112" y="2555748"/>
            <a:ext cx="219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2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6830568" y="210312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F3EEFA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3508" y="2304288"/>
            <a:ext cx="548640" cy="548640"/>
          </a:xfrm>
          <a:prstGeom prst="ellipse">
            <a:avLst/>
          </a:prstGeom>
          <a:solidFill>
            <a:srgbClr val="4C1D6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695" y="2430475"/>
            <a:ext cx="296266" cy="2962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2999232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live MCP tools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705088" y="2555748"/>
            <a:ext cx="219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2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8924544" y="210312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F3EEFA"/>
          </a:solidFill>
          <a:ln/>
        </p:spPr>
      </p:sp>
      <p:sp>
        <p:nvSpPr>
          <p:cNvPr id="25" name="Shape 19"/>
          <p:cNvSpPr/>
          <p:nvPr/>
        </p:nvSpPr>
        <p:spPr>
          <a:xfrm>
            <a:off x="9587484" y="2304288"/>
            <a:ext cx="548640" cy="548640"/>
          </a:xfrm>
          <a:prstGeom prst="ellipse">
            <a:avLst/>
          </a:prstGeom>
          <a:solidFill>
            <a:srgbClr val="4C1D6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3671" y="2430475"/>
            <a:ext cx="296266" cy="29626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997696" y="2999232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Kapruka backend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39776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price, product, and delivery date is grounded in a live MCP response — Kavi never invents one.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548640" y="44805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public Kapruka tools (search, delivery, checkout, tracking) + 3 private Phase-2 finalist tools (profile, order history, saved addresses).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to beat the standard checkout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2011680"/>
            <a:ext cx="4572000" cy="2103120"/>
          </a:xfrm>
          <a:prstGeom prst="roundRect">
            <a:avLst>
              <a:gd name="adj" fmla="val 6087"/>
            </a:avLst>
          </a:prstGeom>
          <a:solidFill>
            <a:srgbClr val="F3EEFA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3317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4C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 min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1554480" y="33832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Kapruka checkout for a new user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(organizer-stated baseline)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4572000" cy="2103120"/>
          </a:xfrm>
          <a:prstGeom prst="roundRect">
            <a:avLst>
              <a:gd name="adj" fmla="val 6087"/>
            </a:avLst>
          </a:prstGeom>
          <a:solidFill>
            <a:srgbClr val="4C1D6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3317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C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 min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6766560" y="33832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9C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Kavi's target — saved profiles and 1-tap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9C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remove the repeated typing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an automated test suite covering cart, checkout, language detection, and the Phase-2 security guard.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WHAT YOU'LL SEE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moments, one conversation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37944"/>
            <a:ext cx="566928" cy="566928"/>
          </a:xfrm>
          <a:prstGeom prst="ellipse">
            <a:avLst/>
          </a:prstGeom>
          <a:solidFill>
            <a:srgbClr val="4C1D6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37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12" dirty="0"/>
          </a:p>
        </p:txBody>
      </p:sp>
      <p:sp>
        <p:nvSpPr>
          <p:cNvPr id="6" name="Text 4"/>
          <p:cNvSpPr/>
          <p:nvPr/>
        </p:nvSpPr>
        <p:spPr>
          <a:xfrm>
            <a:off x="1325880" y="16002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customer greeting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25880" y="19842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“Hi, I'm Sandaru” — Kavi looks up the profile and welcomes her back by name.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66928" cy="566928"/>
          </a:xfrm>
          <a:prstGeom prst="ellipse">
            <a:avLst/>
          </a:prstGeom>
          <a:solidFill>
            <a:srgbClr val="4C1D6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12" dirty="0"/>
          </a:p>
        </p:txBody>
      </p:sp>
      <p:sp>
        <p:nvSpPr>
          <p:cNvPr id="10" name="Text 8"/>
          <p:cNvSpPr/>
          <p:nvPr/>
        </p:nvSpPr>
        <p:spPr>
          <a:xfrm>
            <a:off x="1325880" y="282549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budgeted discovery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325880" y="320954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“Birthday ribbon cake, under Rs 8,000” — a real, price-filtered carousel appears.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88536"/>
            <a:ext cx="566928" cy="566928"/>
          </a:xfrm>
          <a:prstGeom prst="ellipse">
            <a:avLst/>
          </a:prstGeom>
          <a:solidFill>
            <a:srgbClr val="4C1D6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88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12" dirty="0"/>
          </a:p>
        </p:txBody>
      </p:sp>
      <p:sp>
        <p:nvSpPr>
          <p:cNvPr id="14" name="Text 12"/>
          <p:cNvSpPr/>
          <p:nvPr/>
        </p:nvSpPr>
        <p:spPr>
          <a:xfrm>
            <a:off x="1325880" y="40507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1-tap checkout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25880" y="44348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saved address, confirm the delivery date, and get a pay link with a live countdown.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513832"/>
            <a:ext cx="566928" cy="566928"/>
          </a:xfrm>
          <a:prstGeom prst="ellipse">
            <a:avLst/>
          </a:prstGeom>
          <a:solidFill>
            <a:srgbClr val="4C1D6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513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12" dirty="0"/>
          </a:p>
        </p:txBody>
      </p:sp>
      <p:sp>
        <p:nvSpPr>
          <p:cNvPr id="18" name="Text 16"/>
          <p:cNvSpPr/>
          <p:nvPr/>
        </p:nvSpPr>
        <p:spPr>
          <a:xfrm>
            <a:off x="1325880" y="527608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C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languages mid-chat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25880" y="566013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next question in Sinhala or Tanglish — Kavi follows without missing a beat.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C1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6B2D96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67528" y="1005840"/>
            <a:ext cx="1463040" cy="1463040"/>
          </a:xfrm>
          <a:prstGeom prst="ellipse">
            <a:avLst/>
          </a:prstGeom>
          <a:solidFill>
            <a:srgbClr val="FFC700"/>
          </a:solidFill>
          <a:ln/>
        </p:spPr>
      </p:sp>
      <p:sp>
        <p:nvSpPr>
          <p:cNvPr id="4" name="Text 2"/>
          <p:cNvSpPr/>
          <p:nvPr/>
        </p:nvSpPr>
        <p:spPr>
          <a:xfrm>
            <a:off x="5367528" y="10058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4160" dirty="0"/>
          </a:p>
        </p:txBody>
      </p:sp>
      <p:sp>
        <p:nvSpPr>
          <p:cNvPr id="5" name="Text 3"/>
          <p:cNvSpPr/>
          <p:nvPr/>
        </p:nvSpPr>
        <p:spPr>
          <a:xfrm>
            <a:off x="1527048" y="2788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527048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7048" y="5120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Tehan Hewage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7048" y="5486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9C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#7GUX3  ·  Kapruka Agent Challenge 2026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527048" y="5806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9C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tehanhewage25@gmail.com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2026-08-15T16:31:08Z</dcterms:created>
  <dcterms:modified xsi:type="dcterms:W3CDTF">2026-08-15T16:31:08Z</dcterms:modified>
</cp:coreProperties>
</file>